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3" r:id="rId15"/>
    <p:sldId id="274" r:id="rId16"/>
    <p:sldId id="275" r:id="rId17"/>
    <p:sldId id="276" r:id="rId18"/>
    <p:sldId id="277" r:id="rId19"/>
    <p:sldId id="278" r:id="rId20"/>
    <p:sldId id="267" r:id="rId21"/>
    <p:sldId id="268" r:id="rId22"/>
    <p:sldId id="269" r:id="rId23"/>
    <p:sldId id="270" r:id="rId24"/>
    <p:sldId id="271" r:id="rId25"/>
    <p:sldId id="272" r:id="rId26"/>
  </p:sldIdLst>
  <p:sldSz cx="1218946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Répondants (%)</c:v>
                </c:pt>
              </c:strCache>
            </c:strRef>
          </c:tx>
          <c:spPr>
            <a:solidFill>
              <a:srgbClr val="4CC9F0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fr-FR" sz="1100" b="0" i="0" u="none" strike="noStrike" kern="1200" baseline="0">
                    <a:solidFill>
                      <a:srgbClr val="0B1B34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Difficulté à
trouver un
prestataire fiable</c:v>
                </c:pt>
                <c:pt idx="1">
                  <c:v>Déjà déçu par
un service</c:v>
                </c:pt>
                <c:pt idx="2">
                  <c:v>Prêts à utiliser
une application</c:v>
                </c:pt>
                <c:pt idx="3">
                  <c:v>Préfèrent le
Mobile Money</c:v>
                </c:pt>
                <c:pt idx="4">
                  <c:v>Veulent voir
les avis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64</c:v>
                </c:pt>
                <c:pt idx="2">
                  <c:v>88</c:v>
                </c:pt>
                <c:pt idx="3">
                  <c:v>71</c:v>
                </c:pt>
                <c:pt idx="4">
                  <c:v>90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fr-FR" sz="9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fr-FR" sz="10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bd5a5284-4431-4bbb-9f8c-b87f3799d8d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fr-FR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035" y="365125"/>
            <a:ext cx="1051353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035" y="1825625"/>
            <a:ext cx="1051353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035" y="6356350"/>
            <a:ext cx="2742660" cy="365125"/>
          </a:xfrm>
        </p:spPr>
        <p:txBody>
          <a:bodyPr/>
          <a:lstStyle/>
          <a:p>
            <a:fld id="{D0C11385-FD2A-4C1B-8B8E-E66B6D57C595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7805" y="6356350"/>
            <a:ext cx="4113990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08905" y="6356350"/>
            <a:ext cx="2742660" cy="365125"/>
          </a:xfrm>
        </p:spPr>
        <p:txBody>
          <a:bodyPr/>
          <a:lstStyle/>
          <a:p>
            <a:fld id="{457A99C4-5768-4380-8299-4B8E3F66232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2154" y="-1553499"/>
            <a:ext cx="4205412" cy="4205412"/>
          </a:xfrm>
          <a:prstGeom prst="ellipse">
            <a:avLst/>
          </a:prstGeom>
          <a:solidFill>
            <a:srgbClr val="13294B"/>
          </a:solidFill>
        </p:spPr>
      </p:sp>
      <p:sp>
        <p:nvSpPr>
          <p:cNvPr id="3" name="Shape 1"/>
          <p:cNvSpPr/>
          <p:nvPr/>
        </p:nvSpPr>
        <p:spPr>
          <a:xfrm>
            <a:off x="10879218" y="4571775"/>
            <a:ext cx="3108348" cy="3108348"/>
          </a:xfrm>
          <a:prstGeom prst="ellipse">
            <a:avLst/>
          </a:prstGeom>
          <a:solidFill>
            <a:srgbClr val="13294B"/>
          </a:solidFill>
        </p:spPr>
      </p:sp>
      <p:sp>
        <p:nvSpPr>
          <p:cNvPr id="4" name="Text 2"/>
          <p:cNvSpPr/>
          <p:nvPr/>
        </p:nvSpPr>
        <p:spPr>
          <a:xfrm>
            <a:off x="822798" y="503496"/>
            <a:ext cx="10513530" cy="31997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INSTITUT IVOIRIEN DE TECHNOLOGIE (IIT)  ·  VITIB, GRAND-BASSAM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798" y="869184"/>
            <a:ext cx="10513530" cy="31997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Mémoire de fin de cycle — Licence en Génie Logiciel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087" y="1417716"/>
            <a:ext cx="10513530" cy="1188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BABIFIX</a:t>
            </a:r>
            <a:endParaRPr lang="en-US" sz="7000" dirty="0"/>
          </a:p>
        </p:txBody>
      </p:sp>
      <p:sp>
        <p:nvSpPr>
          <p:cNvPr id="7" name="Shape 5"/>
          <p:cNvSpPr/>
          <p:nvPr/>
        </p:nvSpPr>
        <p:spPr>
          <a:xfrm>
            <a:off x="868509" y="2697624"/>
            <a:ext cx="1462752" cy="63995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8" name="Text 6"/>
          <p:cNvSpPr/>
          <p:nvPr/>
        </p:nvSpPr>
        <p:spPr>
          <a:xfrm>
            <a:off x="822798" y="2880468"/>
            <a:ext cx="9325044" cy="86850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Conception et réalisation d'une plateforme numérique de services à domicile en Côte d'Ivoire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798" y="3977532"/>
            <a:ext cx="7039494" cy="2148417"/>
          </a:xfrm>
          <a:prstGeom prst="roundRect">
            <a:avLst>
              <a:gd name="adj" fmla="val 3404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353" y="4114665"/>
            <a:ext cx="2651238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Présenté par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6880" y="4114665"/>
            <a:ext cx="4022568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KOUAKOU EBOUHO FRANCK YVAN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353" y="4599202"/>
            <a:ext cx="2651238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Encadrant académique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6880" y="4599202"/>
            <a:ext cx="4022568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 ANANGAMAN SEDRICK GAËL KOUAGNI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353" y="5083738"/>
            <a:ext cx="2651238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Maître de stage (SNDI)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6880" y="5083738"/>
            <a:ext cx="4022568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 TIÉ Zaouri Narcisse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353" y="5568275"/>
            <a:ext cx="2651238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Année académique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6880" y="5568275"/>
            <a:ext cx="4022568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 –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798" y="6263082"/>
            <a:ext cx="10513530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effectué à la Société Nationale de Développement Informatique (SNDI) — Département Génie Logiciel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821" y="457785"/>
            <a:ext cx="502821" cy="502821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3" name="Text 1"/>
          <p:cNvSpPr/>
          <p:nvPr/>
        </p:nvSpPr>
        <p:spPr>
          <a:xfrm>
            <a:off x="502821" y="457785"/>
            <a:ext cx="502821" cy="5028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486" y="457785"/>
            <a:ext cx="10513530" cy="639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88486" y="1372005"/>
            <a:ext cx="5119632" cy="102392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98192" y="1463427"/>
            <a:ext cx="868509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212412" y="1463427"/>
            <a:ext cx="3976857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 &amp; justification</a:t>
            </a:r>
            <a:endParaRPr lang="en-US" sz="15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Marché ivoirien des services à domicile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719517" y="1372005"/>
            <a:ext cx="5119632" cy="102392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29223" y="1463427"/>
            <a:ext cx="868509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743443" y="1463427"/>
            <a:ext cx="3976857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Problématique</a:t>
            </a:r>
            <a:endParaRPr lang="en-US" sz="15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 de recherche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188486" y="2542207"/>
            <a:ext cx="5119632" cy="102392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98192" y="2633629"/>
            <a:ext cx="868509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212412" y="2633629"/>
            <a:ext cx="3976857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État de l'art</a:t>
            </a:r>
            <a:endParaRPr lang="en-US" sz="15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Plateformes existantes &amp; limites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719517" y="2542207"/>
            <a:ext cx="5119632" cy="102392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29223" y="2633629"/>
            <a:ext cx="868509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7743443" y="2633629"/>
            <a:ext cx="3976857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Hypothèses &amp; méthodologie</a:t>
            </a:r>
            <a:endParaRPr lang="en-US" sz="15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Démarche de recherche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1188486" y="3712408"/>
            <a:ext cx="5119632" cy="102392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98192" y="3803830"/>
            <a:ext cx="868509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05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2212412" y="3803830"/>
            <a:ext cx="3976857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Données &amp; interprétation</a:t>
            </a:r>
            <a:endParaRPr lang="en-US" sz="15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Enquête terrain (Annexe 3)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719517" y="3712408"/>
            <a:ext cx="5119632" cy="102392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29223" y="3803830"/>
            <a:ext cx="868509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06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743443" y="3803830"/>
            <a:ext cx="3976857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 proposée : BABIFIX</a:t>
            </a:r>
            <a:endParaRPr lang="en-US" sz="15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Conception &amp; modélisation UML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1188486" y="4882610"/>
            <a:ext cx="5119632" cy="102392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98192" y="4974032"/>
            <a:ext cx="868509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07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2212412" y="4974032"/>
            <a:ext cx="3976857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&amp; démonstration</a:t>
            </a:r>
            <a:endParaRPr lang="en-US" sz="15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Réalisation technique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719517" y="4882610"/>
            <a:ext cx="5119632" cy="102392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29223" y="4974032"/>
            <a:ext cx="868509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08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7743443" y="4974032"/>
            <a:ext cx="3976857" cy="8410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Validation, limites &amp; perspectives</a:t>
            </a:r>
            <a:endParaRPr lang="en-US" sz="15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Tests, bilan, évolutions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821" y="457785"/>
            <a:ext cx="502821" cy="502821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3" name="Text 1"/>
          <p:cNvSpPr/>
          <p:nvPr/>
        </p:nvSpPr>
        <p:spPr>
          <a:xfrm>
            <a:off x="502821" y="457785"/>
            <a:ext cx="502821" cy="5028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486" y="457785"/>
            <a:ext cx="10513530" cy="639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Contexte général &amp; justification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486" y="1326294"/>
            <a:ext cx="6490962" cy="77708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Domaine : </a:t>
            </a:r>
            <a:r>
              <a:rPr lang="en-US" sz="14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économie des plateformes numériques appliquée aux services à domicile (plomberie, électricité, ménage, jardinage, garde d'enfants).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234197" y="2149092"/>
            <a:ext cx="6445251" cy="21027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Secteur massivement informel : pas de cadre, pas de contrôle qualité.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 client ne peut pas vérifier la fiabilité de l'intervenant.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 prestataire honnête peine à se faire connaître et payer.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Paiements en espèces, sans traçabilité ni recours.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486" y="4343220"/>
            <a:ext cx="6490962" cy="73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Pourtant, un contexte très favorable au numérique : la Côte d'Ivoire est en tête de l'adoption du paiement mobile.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999425" y="1326294"/>
            <a:ext cx="3611169" cy="1417041"/>
          </a:xfrm>
          <a:prstGeom prst="roundRect">
            <a:avLst>
              <a:gd name="adj" fmla="val 5161"/>
            </a:avLst>
          </a:prstGeom>
          <a:solidFill>
            <a:srgbClr val="0B1B3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82269" y="1436000"/>
            <a:ext cx="3291192" cy="77708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+24 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182269" y="2194803"/>
            <a:ext cx="3291192" cy="457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comptes Mobile Money actifs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99425" y="2880468"/>
            <a:ext cx="3611169" cy="1417041"/>
          </a:xfrm>
          <a:prstGeom prst="roundRect">
            <a:avLst>
              <a:gd name="adj" fmla="val 5161"/>
            </a:avLst>
          </a:prstGeom>
          <a:solidFill>
            <a:srgbClr val="0B1B3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82269" y="2990174"/>
            <a:ext cx="3291192" cy="77708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+70 %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182269" y="3748977"/>
            <a:ext cx="3291192" cy="457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 adultes paient par téléphone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9425" y="4434642"/>
            <a:ext cx="3611169" cy="1417041"/>
          </a:xfrm>
          <a:prstGeom prst="roundRect">
            <a:avLst>
              <a:gd name="adj" fmla="val 5161"/>
            </a:avLst>
          </a:prstGeom>
          <a:solidFill>
            <a:srgbClr val="0B1B3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2269" y="4544348"/>
            <a:ext cx="3291192" cy="77708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C5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182269" y="5303151"/>
            <a:ext cx="3291192" cy="457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opérateurs : Orange · MTN · Moov · Wave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99425" y="6034527"/>
            <a:ext cx="3611169" cy="2742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 : SikaFinance (2024), SocialNetLink (2025), ARTCI / GSMA.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821" y="457785"/>
            <a:ext cx="502821" cy="502821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3" name="Text 1"/>
          <p:cNvSpPr/>
          <p:nvPr/>
        </p:nvSpPr>
        <p:spPr>
          <a:xfrm>
            <a:off x="502821" y="457785"/>
            <a:ext cx="502821" cy="5028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486" y="457785"/>
            <a:ext cx="10513530" cy="639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Problématique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88486" y="1372005"/>
            <a:ext cx="10422108" cy="1554174"/>
          </a:xfrm>
          <a:prstGeom prst="roundRect">
            <a:avLst>
              <a:gd name="adj" fmla="val 4706"/>
            </a:avLst>
          </a:prstGeom>
          <a:solidFill>
            <a:srgbClr val="0B1B3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62752" y="1554849"/>
            <a:ext cx="9782154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QUESTION DE RECHERCHE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2752" y="1874826"/>
            <a:ext cx="9873576" cy="95993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 Comment concevoir et réaliser une plateforme numérique capable de mettre en relation, de manière fiable et sécurisée, les clients et les prestataires de services à domicile en Côte d'Ivoire, tout en levant le verrou de la confiance qui caractérise ce marché ? »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88486" y="3200445"/>
            <a:ext cx="10056420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Trois verrous identifiés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486" y="3657555"/>
            <a:ext cx="3346045" cy="2148417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17041" y="3858683"/>
            <a:ext cx="457110" cy="457110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11" name="Text 9"/>
          <p:cNvSpPr/>
          <p:nvPr/>
        </p:nvSpPr>
        <p:spPr>
          <a:xfrm>
            <a:off x="1417041" y="4434642"/>
            <a:ext cx="2888935" cy="457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Confiance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041" y="4891752"/>
            <a:ext cx="2888935" cy="8227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Aucune vérification d'identité : le client invite un inconnu chez lui.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17375" y="3657555"/>
            <a:ext cx="3346045" cy="2148417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45930" y="3858683"/>
            <a:ext cx="457110" cy="45711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4945930" y="4434642"/>
            <a:ext cx="2888935" cy="457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45930" y="4891752"/>
            <a:ext cx="2888935" cy="8227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Échanges dispersés, sans lien avec une réservation ni historique.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46264" y="3657555"/>
            <a:ext cx="3346045" cy="2148417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74820" y="3858683"/>
            <a:ext cx="457110" cy="457110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9" name="Text 17"/>
          <p:cNvSpPr/>
          <p:nvPr/>
        </p:nvSpPr>
        <p:spPr>
          <a:xfrm>
            <a:off x="8474820" y="4434642"/>
            <a:ext cx="2888935" cy="457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Paiement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74820" y="4891752"/>
            <a:ext cx="2888935" cy="8227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Carte bancaire inadaptée ; le Mobile Money n'est pas pris en charge.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821" y="457785"/>
            <a:ext cx="502821" cy="502821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3" name="Text 1"/>
          <p:cNvSpPr/>
          <p:nvPr/>
        </p:nvSpPr>
        <p:spPr>
          <a:xfrm>
            <a:off x="502821" y="457785"/>
            <a:ext cx="502821" cy="5028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486" y="457785"/>
            <a:ext cx="10513530" cy="639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Revue de littérature &amp; état de l'art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486" y="1298867"/>
            <a:ext cx="10056420" cy="31997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Comparatif fonctionnel des plateformes disponibles en Côte d'Ivoire :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1188486" y="1646271"/>
          <a:ext cx="10421620" cy="3368040"/>
        </p:xfrm>
        <a:graphic>
          <a:graphicData uri="http://schemas.openxmlformats.org/drawingml/2006/table">
            <a:tbl>
              <a:tblPr/>
              <a:tblGrid>
                <a:gridCol w="3108325"/>
                <a:gridCol w="1370965"/>
                <a:gridCol w="1463040"/>
                <a:gridCol w="1370965"/>
                <a:gridCol w="1645920"/>
                <a:gridCol w="1462405"/>
              </a:tblGrid>
              <a:tr h="4210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Fonctionnalité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Yako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OnDjossi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Gombo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 Artisan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B3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BABIFIX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Vérification KYC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Réservation en ligne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Partiel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Partiel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Partiel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Cycle de devis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Chat temps réel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Paiement Mobile Money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Paiement sécurisé (séquestre)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Classement par proximité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Partiel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Partiel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88486" y="5805972"/>
            <a:ext cx="10422108" cy="73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 commune : </a:t>
            </a:r>
            <a:r>
              <a:rPr lang="en-US" sz="1250" i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 déficit de confiance. Les références internationales (TaskRabbit, Thumbtack) valident le modèle, mais reposent sur la carte bancaire — inadaptée au marché ouest-africain.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821" y="457785"/>
            <a:ext cx="502821" cy="502821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3" name="Text 1"/>
          <p:cNvSpPr/>
          <p:nvPr/>
        </p:nvSpPr>
        <p:spPr>
          <a:xfrm>
            <a:off x="502821" y="457785"/>
            <a:ext cx="502821" cy="5028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486" y="457785"/>
            <a:ext cx="10513530" cy="639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Hypothèses de recherche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88486" y="1509138"/>
            <a:ext cx="10422108" cy="137133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041" y="1737693"/>
            <a:ext cx="914220" cy="914220"/>
          </a:xfrm>
          <a:prstGeom prst="roundRect">
            <a:avLst>
              <a:gd name="adj" fmla="val 50000"/>
            </a:avLst>
          </a:prstGeom>
          <a:solidFill>
            <a:srgbClr val="4CC9F0"/>
          </a:solidFill>
        </p:spPr>
      </p:sp>
      <p:sp>
        <p:nvSpPr>
          <p:cNvPr id="7" name="Text 5"/>
          <p:cNvSpPr/>
          <p:nvPr/>
        </p:nvSpPr>
        <p:spPr>
          <a:xfrm>
            <a:off x="1417041" y="1737693"/>
            <a:ext cx="914220" cy="914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605527" y="1691982"/>
            <a:ext cx="8776512" cy="100564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Une mise en relation géolocalisée (distance réelle) augmente la confiance et le taux de mise en relation.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188486" y="3063312"/>
            <a:ext cx="10422108" cy="137133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17041" y="3291867"/>
            <a:ext cx="914220" cy="9142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1417041" y="3291867"/>
            <a:ext cx="914220" cy="914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605527" y="3246156"/>
            <a:ext cx="8776512" cy="100564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paiement séquestre (escrow) via Mobile Money réduit significativement les litiges client–prestataire.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188486" y="4617486"/>
            <a:ext cx="10422108" cy="137133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417041" y="4846041"/>
            <a:ext cx="914220" cy="9142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</p:spPr>
      </p:sp>
      <p:sp>
        <p:nvSpPr>
          <p:cNvPr id="15" name="Text 13"/>
          <p:cNvSpPr/>
          <p:nvPr/>
        </p:nvSpPr>
        <p:spPr>
          <a:xfrm>
            <a:off x="1417041" y="4846041"/>
            <a:ext cx="914220" cy="914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2605527" y="4800330"/>
            <a:ext cx="8776512" cy="100564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Une vérification d'identité (KYC) et une interface simple, mobile-first, sont déterminantes pour l'adoption.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821" y="457785"/>
            <a:ext cx="502821" cy="502821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3" name="Text 1"/>
          <p:cNvSpPr/>
          <p:nvPr/>
        </p:nvSpPr>
        <p:spPr>
          <a:xfrm>
            <a:off x="502821" y="457785"/>
            <a:ext cx="502821" cy="5028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486" y="457785"/>
            <a:ext cx="10513530" cy="639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Méthodologie de recherche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88486" y="1417716"/>
            <a:ext cx="4982499" cy="137133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486" y="1417716"/>
            <a:ext cx="109706" cy="137133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7" name="Text 5"/>
          <p:cNvSpPr/>
          <p:nvPr/>
        </p:nvSpPr>
        <p:spPr>
          <a:xfrm>
            <a:off x="1462752" y="1582276"/>
            <a:ext cx="4479678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Type d'étude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2752" y="2011959"/>
            <a:ext cx="4525389" cy="6856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Démarche mixte : étude documentaire + enquête terrain + conception logicielle.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5251" y="1417716"/>
            <a:ext cx="4982499" cy="137133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5251" y="1417716"/>
            <a:ext cx="109706" cy="137133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6719517" y="1582276"/>
            <a:ext cx="4479678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Population cible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19517" y="2011959"/>
            <a:ext cx="4525389" cy="6856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Clients potentiels et prestataires de services à domicile (Abidjan).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486" y="3017601"/>
            <a:ext cx="4982499" cy="137133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88486" y="3017601"/>
            <a:ext cx="109706" cy="137133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5" name="Text 13"/>
          <p:cNvSpPr/>
          <p:nvPr/>
        </p:nvSpPr>
        <p:spPr>
          <a:xfrm>
            <a:off x="1462752" y="3182161"/>
            <a:ext cx="4479678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Collecte de données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2752" y="3611844"/>
            <a:ext cx="4525389" cy="6856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Questionnaire en ligne (Google Forms, Annexe 3) + analyse de l'existant.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5251" y="3017601"/>
            <a:ext cx="4982499" cy="137133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5251" y="3017601"/>
            <a:ext cx="109706" cy="137133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9" name="Text 17"/>
          <p:cNvSpPr/>
          <p:nvPr/>
        </p:nvSpPr>
        <p:spPr>
          <a:xfrm>
            <a:off x="6719517" y="3182161"/>
            <a:ext cx="4479678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Conception &amp; validation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19517" y="3611844"/>
            <a:ext cx="4525389" cy="6856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Modélisation UML (PlantUML), puis développement et tests du prototype.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88486" y="4754619"/>
            <a:ext cx="10422108" cy="1234197"/>
          </a:xfrm>
          <a:prstGeom prst="roundRect">
            <a:avLst>
              <a:gd name="adj" fmla="val 5926"/>
            </a:avLst>
          </a:prstGeom>
          <a:solidFill>
            <a:srgbClr val="0B1B3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17041" y="4864325"/>
            <a:ext cx="10056420" cy="31997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Projet planifié sur 16 semaines (diagramme de Gantt) 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041" y="5211729"/>
            <a:ext cx="10056420" cy="6856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Étude &amp; état de l'art (S1–S3)  →  Analyse des besoins (S3–S5)  →  Modélisation UML (S5–S7)  →  Développement serveur &amp; apps (S7–S13)  →  Paiement &amp; notifications (S12–S14)  →  Tests &amp; rédaction (S14–S16).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821" y="457785"/>
            <a:ext cx="502821" cy="502821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3" name="Text 1"/>
          <p:cNvSpPr/>
          <p:nvPr/>
        </p:nvSpPr>
        <p:spPr>
          <a:xfrm>
            <a:off x="502821" y="457785"/>
            <a:ext cx="502821" cy="5028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486" y="457785"/>
            <a:ext cx="10513530" cy="639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Présentation &amp; analyse des données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822798" y="1372005"/>
          <a:ext cx="7039494" cy="4753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7980" y="1372005"/>
            <a:ext cx="3382614" cy="4753944"/>
          </a:xfrm>
          <a:prstGeom prst="roundRect">
            <a:avLst>
              <a:gd name="adj" fmla="val 2162"/>
            </a:avLst>
          </a:prstGeom>
          <a:solidFill>
            <a:srgbClr val="0B1B3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56535" y="1573133"/>
            <a:ext cx="2925504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Enseignements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56535" y="2011959"/>
            <a:ext cx="2971215" cy="3291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Fort besoin de fiabilité et de transparence.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Forte appétence pour une solution mobile.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Money = moyen de paiement attendu.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 avis / notations guident le choix.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798" y="6171660"/>
            <a:ext cx="7039494" cy="31997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Remplace ces valeurs par tes résultats Google Forms (Annexe 3).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821" y="457785"/>
            <a:ext cx="502821" cy="502821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3" name="Text 1"/>
          <p:cNvSpPr/>
          <p:nvPr/>
        </p:nvSpPr>
        <p:spPr>
          <a:xfrm>
            <a:off x="502821" y="457785"/>
            <a:ext cx="502821" cy="5028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486" y="457785"/>
            <a:ext cx="10513530" cy="639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Interprétation des résultats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486" y="1372005"/>
            <a:ext cx="10056420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 données confirment la problématique et orientent la conception 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188486" y="1920537"/>
            <a:ext cx="10422108" cy="127990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486" y="1920537"/>
            <a:ext cx="109706" cy="127990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8" name="Text 6"/>
          <p:cNvSpPr/>
          <p:nvPr/>
        </p:nvSpPr>
        <p:spPr>
          <a:xfrm>
            <a:off x="1462752" y="2103381"/>
            <a:ext cx="2468394" cy="914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H1 confirmée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76857" y="2103381"/>
            <a:ext cx="7405182" cy="914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 besoin de proximité/fiabilité justifie un matching géolocalisé (Haversine, rayon adaptatif).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188486" y="3337578"/>
            <a:ext cx="10422108" cy="127990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88486" y="3337578"/>
            <a:ext cx="109706" cy="127990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2" name="Text 10"/>
          <p:cNvSpPr/>
          <p:nvPr/>
        </p:nvSpPr>
        <p:spPr>
          <a:xfrm>
            <a:off x="1462752" y="3520422"/>
            <a:ext cx="2468394" cy="914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H2 confirmée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76857" y="3520422"/>
            <a:ext cx="7405182" cy="914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crainte des litiges justifie le paiement séquestre Mobile Money + cycle de devis.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188486" y="4754619"/>
            <a:ext cx="10422108" cy="127990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88486" y="4754619"/>
            <a:ext cx="109706" cy="12799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6" name="Text 14"/>
          <p:cNvSpPr/>
          <p:nvPr/>
        </p:nvSpPr>
        <p:spPr>
          <a:xfrm>
            <a:off x="1462752" y="4937463"/>
            <a:ext cx="2468394" cy="914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H3 confirmée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76857" y="4937463"/>
            <a:ext cx="7405182" cy="914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KYC obligatoire et interface mobile-first deviennent des leviers d'adoption.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821" y="457785"/>
            <a:ext cx="502821" cy="502821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3" name="Text 1"/>
          <p:cNvSpPr/>
          <p:nvPr/>
        </p:nvSpPr>
        <p:spPr>
          <a:xfrm>
            <a:off x="502821" y="457785"/>
            <a:ext cx="502821" cy="5028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486" y="457785"/>
            <a:ext cx="10513530" cy="639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Solution proposée : BABIFIX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486" y="1326294"/>
            <a:ext cx="10056420" cy="31997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Une place de marché à 4 interfaces reliées à un même serveur central 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88486" y="1737693"/>
            <a:ext cx="2486678" cy="1599885"/>
          </a:xfrm>
          <a:prstGeom prst="roundRect">
            <a:avLst>
              <a:gd name="adj" fmla="val 4571"/>
            </a:avLst>
          </a:prstGeom>
          <a:solidFill>
            <a:srgbClr val="0B1B3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330" y="1902253"/>
            <a:ext cx="2120990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App Client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330" y="2286225"/>
            <a:ext cx="2120990" cy="95993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Recherche géoloc., réservation, devis, paiement, avis, fidélité.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39724" y="1737693"/>
            <a:ext cx="2486678" cy="1599885"/>
          </a:xfrm>
          <a:prstGeom prst="roundRect">
            <a:avLst>
              <a:gd name="adj" fmla="val 4571"/>
            </a:avLst>
          </a:prstGeom>
          <a:solidFill>
            <a:srgbClr val="0B1B3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2568" y="1902253"/>
            <a:ext cx="2120990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App Prestataire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022568" y="2286225"/>
            <a:ext cx="2120990" cy="95993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Profil, KYC, devis, agenda, portefeuille, premium.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0962" y="1737693"/>
            <a:ext cx="2486678" cy="1599885"/>
          </a:xfrm>
          <a:prstGeom prst="roundRect">
            <a:avLst>
              <a:gd name="adj" fmla="val 4571"/>
            </a:avLst>
          </a:prstGeom>
          <a:solidFill>
            <a:srgbClr val="0B1B3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3806" y="1902253"/>
            <a:ext cx="2120990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Back-office Admin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73806" y="2286225"/>
            <a:ext cx="2120990" cy="95993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KYC, litiges, paiements, actualités.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2200" y="1737693"/>
            <a:ext cx="2486678" cy="1599885"/>
          </a:xfrm>
          <a:prstGeom prst="roundRect">
            <a:avLst>
              <a:gd name="adj" fmla="val 4571"/>
            </a:avLst>
          </a:prstGeom>
          <a:solidFill>
            <a:srgbClr val="0B1B3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5044" y="1902253"/>
            <a:ext cx="2120990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Site vitrine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5044" y="2286225"/>
            <a:ext cx="2120990" cy="95993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Présentation, téléchargement, SEO, consentement RGPD.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88486" y="3520422"/>
            <a:ext cx="10056420" cy="31997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Trois piliers de valeur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88486" y="3886110"/>
            <a:ext cx="3346045" cy="1051353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71330" y="3977532"/>
            <a:ext cx="3016926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Confiance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330" y="4315793"/>
            <a:ext cx="3016926" cy="5485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KYC (CNI + photo) + validation admin + notation bidirectionnelle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17375" y="3886110"/>
            <a:ext cx="3346045" cy="1051353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00219" y="3977532"/>
            <a:ext cx="3016926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Transparence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00219" y="4315793"/>
            <a:ext cx="3016926" cy="5485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Cycle de devis : prix accepté avant l'intervention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46264" y="3886110"/>
            <a:ext cx="3346045" cy="1051353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29109" y="3977532"/>
            <a:ext cx="3016926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Sécurité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29109" y="4315793"/>
            <a:ext cx="3016926" cy="5485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Paiement séquestre en FCFA (Mobile Money / espèces)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88486" y="5120307"/>
            <a:ext cx="10422108" cy="1234197"/>
          </a:xfrm>
          <a:prstGeom prst="roundRect">
            <a:avLst>
              <a:gd name="adj" fmla="val 5926"/>
            </a:avLst>
          </a:prstGeom>
          <a:solidFill>
            <a:srgbClr val="0B1B3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17041" y="5230013"/>
            <a:ext cx="10056420" cy="31997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Modèle économique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041" y="5559133"/>
            <a:ext cx="10056420" cy="6856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Commission de 18 % à la finalisation  +  abonnement premium prestataire : Standard (18 %) · Silver 7 500 F (≈13 %) · Gold 15 000 F (≈8 %), visibilité et quota de devis croissants.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821" y="364032"/>
            <a:ext cx="502821" cy="502821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3" name="Text 1"/>
          <p:cNvSpPr/>
          <p:nvPr/>
        </p:nvSpPr>
        <p:spPr>
          <a:xfrm>
            <a:off x="502821" y="251638"/>
            <a:ext cx="502821" cy="7089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486" y="323161"/>
            <a:ext cx="10513530" cy="639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Modélisation du système (UML)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764950" y="30612"/>
            <a:ext cx="3346045" cy="1188486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6079" y="231740"/>
            <a:ext cx="411399" cy="411399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8" name="Text 6"/>
          <p:cNvSpPr/>
          <p:nvPr/>
        </p:nvSpPr>
        <p:spPr>
          <a:xfrm>
            <a:off x="8922085" y="231740"/>
            <a:ext cx="499386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1/3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96326" y="195172"/>
            <a:ext cx="2431825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Cas d'utilisation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96326" y="542575"/>
            <a:ext cx="2431825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Interactions acteurs ↔ système (client, prestataire, admin)</a:t>
            </a:r>
            <a:endParaRPr lang="en-US" sz="1050" dirty="0"/>
          </a:p>
        </p:txBody>
      </p:sp>
      <p:pic>
        <p:nvPicPr>
          <p:cNvPr id="34" name="Image 33" descr="BABIFIX_UC_Cli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998" y="1136818"/>
            <a:ext cx="11275379" cy="54828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/>
          <p:cNvSpPr/>
          <p:nvPr/>
        </p:nvSpPr>
        <p:spPr>
          <a:xfrm>
            <a:off x="127991" y="55528"/>
            <a:ext cx="3346045" cy="1188486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3" name="Shape 5"/>
          <p:cNvSpPr/>
          <p:nvPr/>
        </p:nvSpPr>
        <p:spPr>
          <a:xfrm>
            <a:off x="329119" y="256657"/>
            <a:ext cx="411399" cy="411399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4" name="Text 6"/>
          <p:cNvSpPr/>
          <p:nvPr/>
        </p:nvSpPr>
        <p:spPr>
          <a:xfrm>
            <a:off x="269695" y="256657"/>
            <a:ext cx="530248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B34"/>
                </a:solidFill>
                <a:latin typeface="Trebuchet MS" panose="020B0603020202020204" pitchFamily="34" charset="0"/>
              </a:rPr>
              <a:t>2/3</a:t>
            </a:r>
            <a:endParaRPr lang="en-US" sz="1500" dirty="0"/>
          </a:p>
        </p:txBody>
      </p:sp>
      <p:sp>
        <p:nvSpPr>
          <p:cNvPr id="5" name="Text 7"/>
          <p:cNvSpPr/>
          <p:nvPr/>
        </p:nvSpPr>
        <p:spPr>
          <a:xfrm>
            <a:off x="859367" y="220088"/>
            <a:ext cx="2431825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Cas d'utilisation</a:t>
            </a:r>
            <a:endParaRPr lang="en-US" sz="1400" dirty="0"/>
          </a:p>
        </p:txBody>
      </p:sp>
      <p:sp>
        <p:nvSpPr>
          <p:cNvPr id="6" name="Text 8"/>
          <p:cNvSpPr/>
          <p:nvPr/>
        </p:nvSpPr>
        <p:spPr>
          <a:xfrm>
            <a:off x="859367" y="567491"/>
            <a:ext cx="2431825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Interactions acteurs ↔ système (client, prestataire, admin)</a:t>
            </a:r>
            <a:endParaRPr lang="en-US" sz="1050" dirty="0"/>
          </a:p>
        </p:txBody>
      </p:sp>
      <p:pic>
        <p:nvPicPr>
          <p:cNvPr id="7" name="Image 6" descr="BABIFIX_UC_Prestatai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518" y="1171892"/>
            <a:ext cx="11316012" cy="55858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/>
          <p:cNvSpPr/>
          <p:nvPr/>
        </p:nvSpPr>
        <p:spPr>
          <a:xfrm>
            <a:off x="127991" y="97475"/>
            <a:ext cx="3346045" cy="1188486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3" name="Shape 5"/>
          <p:cNvSpPr/>
          <p:nvPr/>
        </p:nvSpPr>
        <p:spPr>
          <a:xfrm>
            <a:off x="329119" y="298603"/>
            <a:ext cx="411399" cy="411399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4" name="Text 6"/>
          <p:cNvSpPr/>
          <p:nvPr/>
        </p:nvSpPr>
        <p:spPr>
          <a:xfrm>
            <a:off x="269695" y="298603"/>
            <a:ext cx="530248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B34"/>
                </a:solidFill>
                <a:latin typeface="Trebuchet MS" panose="020B0603020202020204" pitchFamily="34" charset="0"/>
              </a:rPr>
              <a:t>3/3</a:t>
            </a:r>
            <a:endParaRPr lang="en-US" sz="1500" dirty="0"/>
          </a:p>
        </p:txBody>
      </p:sp>
      <p:sp>
        <p:nvSpPr>
          <p:cNvPr id="5" name="Text 7"/>
          <p:cNvSpPr/>
          <p:nvPr/>
        </p:nvSpPr>
        <p:spPr>
          <a:xfrm>
            <a:off x="859367" y="262035"/>
            <a:ext cx="2431825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Cas d'utilisation</a:t>
            </a:r>
            <a:endParaRPr lang="en-US" sz="1400" dirty="0"/>
          </a:p>
        </p:txBody>
      </p:sp>
      <p:sp>
        <p:nvSpPr>
          <p:cNvPr id="6" name="Text 8"/>
          <p:cNvSpPr/>
          <p:nvPr/>
        </p:nvSpPr>
        <p:spPr>
          <a:xfrm>
            <a:off x="859367" y="609438"/>
            <a:ext cx="2431825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Interactions acteurs ↔ système (client, prestataire, admin)</a:t>
            </a:r>
            <a:endParaRPr lang="en-US" sz="1050" dirty="0"/>
          </a:p>
        </p:txBody>
      </p:sp>
      <p:pic>
        <p:nvPicPr>
          <p:cNvPr id="7" name="Image 6" descr="BABIFIX_UC_Adm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4066" y="1757374"/>
            <a:ext cx="6081468" cy="33432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r 8"/>
          <p:cNvGrpSpPr/>
          <p:nvPr/>
        </p:nvGrpSpPr>
        <p:grpSpPr>
          <a:xfrm>
            <a:off x="128245" y="55274"/>
            <a:ext cx="11731855" cy="6802051"/>
            <a:chOff x="202" y="86"/>
            <a:chExt cx="18479" cy="10714"/>
          </a:xfrm>
        </p:grpSpPr>
        <p:sp>
          <p:nvSpPr>
            <p:cNvPr id="2" name="Shape 4"/>
            <p:cNvSpPr/>
            <p:nvPr/>
          </p:nvSpPr>
          <p:spPr>
            <a:xfrm>
              <a:off x="202" y="86"/>
              <a:ext cx="5270" cy="1872"/>
            </a:xfrm>
            <a:prstGeom prst="roundRect">
              <a:avLst>
                <a:gd name="adj" fmla="val 6154"/>
              </a:avLst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B1B34">
                  <a:alpha val="16000"/>
                </a:srgbClr>
              </a:outerShdw>
            </a:effectLst>
          </p:spPr>
        </p:sp>
        <p:sp>
          <p:nvSpPr>
            <p:cNvPr id="3" name="Shape 5"/>
            <p:cNvSpPr/>
            <p:nvPr/>
          </p:nvSpPr>
          <p:spPr>
            <a:xfrm>
              <a:off x="518" y="403"/>
              <a:ext cx="648" cy="648"/>
            </a:xfrm>
            <a:prstGeom prst="ellipse">
              <a:avLst/>
            </a:prstGeom>
            <a:solidFill>
              <a:srgbClr val="4CC9F0"/>
            </a:solidFill>
          </p:spPr>
        </p:sp>
        <p:sp>
          <p:nvSpPr>
            <p:cNvPr id="4" name="Text 6"/>
            <p:cNvSpPr/>
            <p:nvPr/>
          </p:nvSpPr>
          <p:spPr>
            <a:xfrm>
              <a:off x="518" y="403"/>
              <a:ext cx="648" cy="64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B1B34"/>
                  </a:solidFill>
                  <a:latin typeface="Trebuchet MS" panose="020B0603020202020204" pitchFamily="34" charset="0"/>
                </a:rPr>
                <a:t>2</a:t>
              </a:r>
              <a:endParaRPr lang="en-US" sz="1500" dirty="0"/>
            </a:p>
          </p:txBody>
        </p:sp>
        <p:sp>
          <p:nvSpPr>
            <p:cNvPr id="5" name="Text 7"/>
            <p:cNvSpPr/>
            <p:nvPr/>
          </p:nvSpPr>
          <p:spPr>
            <a:xfrm>
              <a:off x="1354" y="346"/>
              <a:ext cx="3830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 err="1">
                  <a:solidFill>
                    <a:srgbClr val="0B1B34"/>
                  </a:solidFill>
                  <a:latin typeface="Trebuchet MS" panose="020B0603020202020204" pitchFamily="34" charset="0"/>
                  <a:ea typeface="Trebuchet MS" panose="020B0603020202020204" pitchFamily="34" charset="-122"/>
                  <a:cs typeface="Trebuchet MS" panose="020B0603020202020204" pitchFamily="34" charset="-120"/>
                </a:rPr>
                <a:t>Classe</a:t>
              </a:r>
              <a:endParaRPr lang="en-US" sz="1400" dirty="0"/>
            </a:p>
          </p:txBody>
        </p:sp>
        <p:sp>
          <p:nvSpPr>
            <p:cNvPr id="6" name="Text 8"/>
            <p:cNvSpPr/>
            <p:nvPr/>
          </p:nvSpPr>
          <p:spPr>
            <a:xfrm>
              <a:off x="1354" y="893"/>
              <a:ext cx="3830" cy="93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Structure des </a:t>
              </a:r>
              <a:r>
                <a:rPr lang="en-US" sz="1050" dirty="0" err="1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données</a:t>
              </a:r>
              <a:r>
                <a:rPr lang="en-US" sz="1050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 : </a:t>
              </a:r>
              <a:r>
                <a:rPr lang="en-US" sz="1050" dirty="0" err="1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Utilisateur</a:t>
              </a:r>
              <a:r>
                <a:rPr lang="en-US" sz="1050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, </a:t>
              </a:r>
              <a:r>
                <a:rPr lang="en-US" sz="1050" dirty="0" err="1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Réservation</a:t>
              </a:r>
              <a:r>
                <a:rPr lang="en-US" sz="1050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, Devis, </a:t>
              </a:r>
              <a:r>
                <a:rPr lang="en-US" sz="1050" dirty="0" err="1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Paiement</a:t>
              </a:r>
              <a:endParaRPr lang="en-US" sz="1050" dirty="0"/>
            </a:p>
          </p:txBody>
        </p:sp>
        <p:pic>
          <p:nvPicPr>
            <p:cNvPr id="7" name="Image 6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5659" y="198"/>
              <a:ext cx="13022" cy="106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r 1"/>
          <p:cNvGrpSpPr/>
          <p:nvPr/>
        </p:nvGrpSpPr>
        <p:grpSpPr>
          <a:xfrm>
            <a:off x="128245" y="100350"/>
            <a:ext cx="11933111" cy="6633174"/>
            <a:chOff x="202" y="157"/>
            <a:chExt cx="18796" cy="10448"/>
          </a:xfrm>
        </p:grpSpPr>
        <p:sp>
          <p:nvSpPr>
            <p:cNvPr id="7" name="Shape 4"/>
            <p:cNvSpPr/>
            <p:nvPr/>
          </p:nvSpPr>
          <p:spPr>
            <a:xfrm>
              <a:off x="202" y="157"/>
              <a:ext cx="5270" cy="1872"/>
            </a:xfrm>
            <a:prstGeom prst="roundRect">
              <a:avLst>
                <a:gd name="adj" fmla="val 6154"/>
              </a:avLst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B1B34">
                  <a:alpha val="16000"/>
                </a:srgbClr>
              </a:outerShdw>
            </a:effectLst>
          </p:spPr>
        </p:sp>
        <p:sp>
          <p:nvSpPr>
            <p:cNvPr id="8" name="Shape 5"/>
            <p:cNvSpPr/>
            <p:nvPr/>
          </p:nvSpPr>
          <p:spPr>
            <a:xfrm>
              <a:off x="518" y="474"/>
              <a:ext cx="648" cy="648"/>
            </a:xfrm>
            <a:prstGeom prst="ellipse">
              <a:avLst/>
            </a:prstGeom>
            <a:solidFill>
              <a:srgbClr val="4CC9F0"/>
            </a:solidFill>
          </p:spPr>
        </p:sp>
        <p:sp>
          <p:nvSpPr>
            <p:cNvPr id="9" name="Text 6"/>
            <p:cNvSpPr/>
            <p:nvPr/>
          </p:nvSpPr>
          <p:spPr>
            <a:xfrm>
              <a:off x="518" y="474"/>
              <a:ext cx="648" cy="64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B1B34"/>
                  </a:solidFill>
                  <a:latin typeface="Trebuchet MS" panose="020B0603020202020204" pitchFamily="34" charset="0"/>
                </a:rPr>
                <a:t>3</a:t>
              </a:r>
              <a:endParaRPr lang="en-US" sz="15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354" y="416"/>
              <a:ext cx="3830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B1B34"/>
                  </a:solidFill>
                  <a:latin typeface="Trebuchet MS" panose="020B0603020202020204" pitchFamily="34" charset="0"/>
                  <a:ea typeface="Trebuchet MS" panose="020B0603020202020204" pitchFamily="34" charset="-122"/>
                  <a:cs typeface="Trebuchet MS" panose="020B0603020202020204" pitchFamily="34" charset="-120"/>
                </a:rPr>
                <a:t>Sequence</a:t>
              </a:r>
              <a:endParaRPr lang="en-US" sz="14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354" y="963"/>
              <a:ext cx="3830" cy="93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050" dirty="0" err="1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Réservation</a:t>
              </a:r>
              <a:r>
                <a:rPr lang="en-US" sz="1050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 &amp; </a:t>
              </a:r>
              <a:r>
                <a:rPr lang="en-US" sz="1050" dirty="0" err="1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paiement</a:t>
              </a:r>
              <a:r>
                <a:rPr lang="en-US" sz="1050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, pas à pas</a:t>
              </a:r>
              <a:endParaRPr lang="en-US" sz="1050" dirty="0"/>
            </a:p>
          </p:txBody>
        </p:sp>
        <p:pic>
          <p:nvPicPr>
            <p:cNvPr id="12" name="Image 11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6624" y="157"/>
              <a:ext cx="12374" cy="104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pic>
        <p:nvPicPr>
          <p:cNvPr id="4" name="Imag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193030" y="100330"/>
            <a:ext cx="5392420" cy="667575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127991" y="100163"/>
            <a:ext cx="3346045" cy="1188486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20" name="Text 8"/>
          <p:cNvSpPr/>
          <p:nvPr/>
        </p:nvSpPr>
        <p:spPr>
          <a:xfrm>
            <a:off x="859367" y="612127"/>
            <a:ext cx="2431825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fr-FR" altLang="en-US" sz="1050" dirty="0" err="1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Inscription prestataire (accept/refus/resoumission)</a:t>
            </a:r>
            <a:endParaRPr lang="fr-FR" altLang="en-US" sz="1050" dirty="0"/>
          </a:p>
        </p:txBody>
      </p:sp>
      <p:sp>
        <p:nvSpPr>
          <p:cNvPr id="21" name="Shape 5"/>
          <p:cNvSpPr/>
          <p:nvPr/>
        </p:nvSpPr>
        <p:spPr>
          <a:xfrm>
            <a:off x="329119" y="301292"/>
            <a:ext cx="411399" cy="411399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22" name="Text 7"/>
          <p:cNvSpPr/>
          <p:nvPr/>
        </p:nvSpPr>
        <p:spPr>
          <a:xfrm>
            <a:off x="859367" y="264723"/>
            <a:ext cx="2431825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fr-FR" altLang="en-US" sz="14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Activité</a:t>
            </a:r>
            <a:endParaRPr lang="fr-FR" altLang="en-US" sz="1400" b="1" dirty="0">
              <a:solidFill>
                <a:srgbClr val="0B1B34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4" name="Text 6"/>
          <p:cNvSpPr/>
          <p:nvPr/>
        </p:nvSpPr>
        <p:spPr>
          <a:xfrm>
            <a:off x="329119" y="301292"/>
            <a:ext cx="411399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altLang="en-US" sz="1500" b="1" dirty="0"/>
              <a:t>4</a:t>
            </a:r>
            <a:endParaRPr lang="fr-FR" altLang="en-US" sz="15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10" name="Shape 4"/>
          <p:cNvSpPr/>
          <p:nvPr/>
        </p:nvSpPr>
        <p:spPr>
          <a:xfrm>
            <a:off x="127991" y="100163"/>
            <a:ext cx="3346045" cy="1188486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20" name="Text 8"/>
          <p:cNvSpPr/>
          <p:nvPr/>
        </p:nvSpPr>
        <p:spPr>
          <a:xfrm>
            <a:off x="859367" y="612127"/>
            <a:ext cx="2431825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fr-FR" altLang="en-US" sz="1050" dirty="0" err="1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Cycle de vie d’une reservation</a:t>
            </a:r>
            <a:endParaRPr lang="fr-FR" altLang="en-US" sz="1050" dirty="0"/>
          </a:p>
        </p:txBody>
      </p:sp>
      <p:sp>
        <p:nvSpPr>
          <p:cNvPr id="21" name="Shape 5"/>
          <p:cNvSpPr/>
          <p:nvPr/>
        </p:nvSpPr>
        <p:spPr>
          <a:xfrm>
            <a:off x="329119" y="301292"/>
            <a:ext cx="411399" cy="411399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22" name="Text 7"/>
          <p:cNvSpPr/>
          <p:nvPr/>
        </p:nvSpPr>
        <p:spPr>
          <a:xfrm>
            <a:off x="859367" y="264723"/>
            <a:ext cx="2431825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fr-FR" altLang="en-US" sz="14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Etat</a:t>
            </a:r>
            <a:endParaRPr lang="fr-FR" altLang="en-US" sz="1400" b="1" dirty="0">
              <a:solidFill>
                <a:srgbClr val="0B1B34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4" name="Text 6"/>
          <p:cNvSpPr/>
          <p:nvPr/>
        </p:nvSpPr>
        <p:spPr>
          <a:xfrm>
            <a:off x="329119" y="301292"/>
            <a:ext cx="411399" cy="4113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altLang="en-US" sz="1500" b="1" dirty="0"/>
              <a:t>5</a:t>
            </a:r>
            <a:endParaRPr lang="fr-FR" altLang="en-US" sz="1500" b="1" dirty="0"/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060825" y="100330"/>
            <a:ext cx="5859780" cy="65544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821" y="457785"/>
            <a:ext cx="502821" cy="502821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3" name="Text 1"/>
          <p:cNvSpPr/>
          <p:nvPr/>
        </p:nvSpPr>
        <p:spPr>
          <a:xfrm>
            <a:off x="502821" y="457785"/>
            <a:ext cx="502821" cy="5028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486" y="457785"/>
            <a:ext cx="10513530" cy="639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Architecture &amp; technologies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798" y="1554849"/>
            <a:ext cx="2742660" cy="9142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220" y="1646271"/>
            <a:ext cx="2559816" cy="73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Client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 (Dart)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798" y="2651913"/>
            <a:ext cx="2742660" cy="9142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220" y="2743335"/>
            <a:ext cx="2559816" cy="73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Prestataire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 (Dart)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798" y="3748977"/>
            <a:ext cx="2742660" cy="9142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220" y="3840399"/>
            <a:ext cx="2559816" cy="73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Site vitrine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62522" y="2331936"/>
            <a:ext cx="2925504" cy="1782729"/>
          </a:xfrm>
          <a:prstGeom prst="roundRect">
            <a:avLst>
              <a:gd name="adj" fmla="val 4103"/>
            </a:avLst>
          </a:prstGeom>
          <a:solidFill>
            <a:srgbClr val="0B1B3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3944" y="2423358"/>
            <a:ext cx="2742660" cy="15998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Serveur BABIFIX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Django 5 · API REST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Channels (WebSocket) · Daphne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5090" y="1417716"/>
            <a:ext cx="2925504" cy="841082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6512" y="1509138"/>
            <a:ext cx="2742660" cy="658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de données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5090" y="2395931"/>
            <a:ext cx="2925504" cy="841082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6512" y="2487353"/>
            <a:ext cx="2742660" cy="658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Cloudinary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Stockage médias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685090" y="3374147"/>
            <a:ext cx="2925504" cy="841082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76512" y="3465569"/>
            <a:ext cx="2742660" cy="658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Firebase FCM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 push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85090" y="4352362"/>
            <a:ext cx="2925504" cy="841082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76512" y="4443784"/>
            <a:ext cx="2742660" cy="658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GeniusPay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Money (4 opérateurs)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565458" y="3200445"/>
            <a:ext cx="1097064" cy="0"/>
          </a:xfrm>
          <a:prstGeom prst="line">
            <a:avLst/>
          </a:prstGeom>
          <a:noFill/>
          <a:ln w="31750">
            <a:solidFill>
              <a:srgbClr val="4CC9F0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8026" y="3200445"/>
            <a:ext cx="1097064" cy="0"/>
          </a:xfrm>
          <a:prstGeom prst="line">
            <a:avLst/>
          </a:prstGeom>
          <a:noFill/>
          <a:ln w="31750">
            <a:solidFill>
              <a:srgbClr val="4CC9F0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188486" y="5485995"/>
            <a:ext cx="10422108" cy="73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en 3 couches (présentation · logique métier · données). Choix guidés par la robustesse, la productivité et l'adéquation au marché ivoirien.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2752" y="4023243"/>
            <a:ext cx="4205412" cy="4205412"/>
          </a:xfrm>
          <a:prstGeom prst="ellipse">
            <a:avLst/>
          </a:prstGeom>
          <a:solidFill>
            <a:srgbClr val="13294B"/>
          </a:solidFill>
        </p:spPr>
      </p:sp>
      <p:sp>
        <p:nvSpPr>
          <p:cNvPr id="3" name="Text 1"/>
          <p:cNvSpPr/>
          <p:nvPr/>
        </p:nvSpPr>
        <p:spPr>
          <a:xfrm>
            <a:off x="822798" y="869184"/>
            <a:ext cx="10513530" cy="457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DÉMONSTRATION LIVE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798" y="1372005"/>
            <a:ext cx="10513530" cy="77708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Parcours utilisateur de bout en bout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064" y="2514780"/>
            <a:ext cx="594243" cy="594243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6" name="Text 4"/>
          <p:cNvSpPr/>
          <p:nvPr/>
        </p:nvSpPr>
        <p:spPr>
          <a:xfrm>
            <a:off x="1097064" y="2514780"/>
            <a:ext cx="594243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65573" y="2514780"/>
            <a:ext cx="9416466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Inscription, vérification &amp; connexion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097064" y="3264440"/>
            <a:ext cx="594243" cy="594243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9" name="Text 7"/>
          <p:cNvSpPr/>
          <p:nvPr/>
        </p:nvSpPr>
        <p:spPr>
          <a:xfrm>
            <a:off x="1097064" y="3264440"/>
            <a:ext cx="594243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65573" y="3264440"/>
            <a:ext cx="9416466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Recherche géolocalisée d'un prestataire vérifié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097064" y="4014101"/>
            <a:ext cx="594243" cy="594243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12" name="Text 10"/>
          <p:cNvSpPr/>
          <p:nvPr/>
        </p:nvSpPr>
        <p:spPr>
          <a:xfrm>
            <a:off x="1097064" y="4014101"/>
            <a:ext cx="594243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65573" y="4014101"/>
            <a:ext cx="9416466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Réservation, devis &amp; acceptation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097064" y="4763761"/>
            <a:ext cx="594243" cy="594243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15" name="Text 13"/>
          <p:cNvSpPr/>
          <p:nvPr/>
        </p:nvSpPr>
        <p:spPr>
          <a:xfrm>
            <a:off x="1097064" y="4763761"/>
            <a:ext cx="594243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65573" y="4763761"/>
            <a:ext cx="9416466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temps réel lié à la réservation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097064" y="5513422"/>
            <a:ext cx="594243" cy="594243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18" name="Text 16"/>
          <p:cNvSpPr/>
          <p:nvPr/>
        </p:nvSpPr>
        <p:spPr>
          <a:xfrm>
            <a:off x="1097064" y="5513422"/>
            <a:ext cx="594243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65573" y="5513422"/>
            <a:ext cx="9416466" cy="594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Paiement séquestre (Mobile Money) puis notation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821" y="457785"/>
            <a:ext cx="502821" cy="502821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3" name="Text 1"/>
          <p:cNvSpPr/>
          <p:nvPr/>
        </p:nvSpPr>
        <p:spPr>
          <a:xfrm>
            <a:off x="502821" y="457785"/>
            <a:ext cx="502821" cy="5028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486" y="457785"/>
            <a:ext cx="10513530" cy="639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Tests &amp; validation de la solution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1188486" y="1463427"/>
          <a:ext cx="10421620" cy="2835275"/>
        </p:xfrm>
        <a:graphic>
          <a:graphicData uri="http://schemas.openxmlformats.org/drawingml/2006/table">
            <a:tbl>
              <a:tblPr/>
              <a:tblGrid>
                <a:gridCol w="2376805"/>
                <a:gridCol w="5850890"/>
                <a:gridCol w="2193925"/>
              </a:tblGrid>
              <a:tr h="5670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 de test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Objet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Résultat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4"/>
                    </a:solidFill>
                  </a:tcPr>
                </a:tc>
              </a:tr>
              <a:tr h="567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Unitaires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Calculs : devis, commission, transitions de statut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Conformes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7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Fonctionnels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Parcours réservation → devis → paiement → évaluation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Validés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7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Sécurité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Authentification, contrôle d'accès, validation des entrées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Satisfaisants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7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Charge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Comportement sous sollicitations croissantes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Stable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22" marR="91422" marT="45711" marB="45711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88486" y="4206087"/>
            <a:ext cx="10056420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Bilan : objectifs atteints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79908" y="4617486"/>
            <a:ext cx="10056420" cy="16455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Analyse du marché &amp; de l'existant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Recueil &amp; spécification des besoins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Modélisation UML complète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interfaces + serveur réalisés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Paiement Mobile Money / espèces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Parcours utilisateur testé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821" y="457785"/>
            <a:ext cx="502821" cy="502821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3" name="Text 1"/>
          <p:cNvSpPr/>
          <p:nvPr/>
        </p:nvSpPr>
        <p:spPr>
          <a:xfrm>
            <a:off x="502821" y="457785"/>
            <a:ext cx="502821" cy="5028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486" y="457785"/>
            <a:ext cx="10513530" cy="639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Limites de l'étude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88486" y="1509138"/>
            <a:ext cx="4982499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486" y="1509138"/>
            <a:ext cx="109706" cy="18284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" name="Text 5"/>
          <p:cNvSpPr/>
          <p:nvPr/>
        </p:nvSpPr>
        <p:spPr>
          <a:xfrm>
            <a:off x="1508463" y="1737693"/>
            <a:ext cx="4479678" cy="457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Périmètre géographique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463" y="2240514"/>
            <a:ext cx="4479678" cy="914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Enquête centrée sur Abidjan : généralisation à confirmer.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45251" y="1509138"/>
            <a:ext cx="4982499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5251" y="1509138"/>
            <a:ext cx="109706" cy="18284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6765228" y="1737693"/>
            <a:ext cx="4479678" cy="457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Paiement en simulation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5228" y="2240514"/>
            <a:ext cx="4479678" cy="914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GeniusPay opéré en mode simulé : à valider en conditions réelles.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88486" y="3611844"/>
            <a:ext cx="4982499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88486" y="3611844"/>
            <a:ext cx="109706" cy="18284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1508463" y="3840399"/>
            <a:ext cx="4479678" cy="457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Amorçage « two-sided 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463" y="4343220"/>
            <a:ext cx="4479678" cy="914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Densité offre/demande à construire (pilote concentré requis).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45251" y="3611844"/>
            <a:ext cx="4982499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5251" y="3611844"/>
            <a:ext cx="109706" cy="18284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6765228" y="3840399"/>
            <a:ext cx="4479678" cy="457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KYC &amp; connectivité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5228" y="4343220"/>
            <a:ext cx="4479678" cy="914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CNI parfois abîmées ; couverture internet hétérogène.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821" y="457785"/>
            <a:ext cx="502821" cy="502821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3" name="Text 1"/>
          <p:cNvSpPr/>
          <p:nvPr/>
        </p:nvSpPr>
        <p:spPr>
          <a:xfrm>
            <a:off x="502821" y="457785"/>
            <a:ext cx="502821" cy="5028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486" y="457785"/>
            <a:ext cx="10513530" cy="639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Conclusion &amp; perspectives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486" y="1326294"/>
            <a:ext cx="10422108" cy="73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BABIFIX répond à un besoin réel par une solution fiable, géolocalisée et adaptée au contexte ivoirien — économiquement viable.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88486" y="2194803"/>
            <a:ext cx="10056420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Perspectives d'évolution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486" y="2606202"/>
            <a:ext cx="2486678" cy="18284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330" y="2789046"/>
            <a:ext cx="457110" cy="457110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9" name="Text 7"/>
          <p:cNvSpPr/>
          <p:nvPr/>
        </p:nvSpPr>
        <p:spPr>
          <a:xfrm>
            <a:off x="1371330" y="3337578"/>
            <a:ext cx="2120990" cy="5485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Déploiement par phases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71330" y="3840399"/>
            <a:ext cx="2120990" cy="5485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Pilote Cocody/Marcory → Abidjan → villes secondaires → région FCFA.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39724" y="2606202"/>
            <a:ext cx="2486678" cy="18284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2568" y="2789046"/>
            <a:ext cx="457110" cy="457110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13" name="Text 11"/>
          <p:cNvSpPr/>
          <p:nvPr/>
        </p:nvSpPr>
        <p:spPr>
          <a:xfrm>
            <a:off x="4022568" y="3337578"/>
            <a:ext cx="2120990" cy="5485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Offre B2B « BABIFIX Pro »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22568" y="3840399"/>
            <a:ext cx="2120990" cy="5485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Syndics, entreprises : multi-sites, SLA, facturation groupée.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0962" y="2606202"/>
            <a:ext cx="2486678" cy="18284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3806" y="2789046"/>
            <a:ext cx="457110" cy="457110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17" name="Text 15"/>
          <p:cNvSpPr/>
          <p:nvPr/>
        </p:nvSpPr>
        <p:spPr>
          <a:xfrm>
            <a:off x="6673806" y="3337578"/>
            <a:ext cx="2120990" cy="5485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Intelligence artificielle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3806" y="3840399"/>
            <a:ext cx="2120990" cy="5485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Prédiction de la demande, optimisation dynamique des prix.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2200" y="2606202"/>
            <a:ext cx="2486678" cy="18284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5044" y="2789046"/>
            <a:ext cx="457110" cy="457110"/>
          </a:xfrm>
          <a:prstGeom prst="ellipse">
            <a:avLst/>
          </a:prstGeom>
          <a:solidFill>
            <a:srgbClr val="4CC9F0"/>
          </a:solidFill>
        </p:spPr>
      </p:sp>
      <p:sp>
        <p:nvSpPr>
          <p:cNvPr id="21" name="Text 19"/>
          <p:cNvSpPr/>
          <p:nvPr/>
        </p:nvSpPr>
        <p:spPr>
          <a:xfrm>
            <a:off x="9325044" y="3337578"/>
            <a:ext cx="2120990" cy="5485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Accessibilité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325044" y="3840399"/>
            <a:ext cx="2120990" cy="5485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 vocal / icônes pour les utilisateurs peu alphabétisés.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88486" y="4663197"/>
            <a:ext cx="10422108" cy="1325619"/>
          </a:xfrm>
          <a:prstGeom prst="roundRect">
            <a:avLst>
              <a:gd name="adj" fmla="val 5517"/>
            </a:avLst>
          </a:prstGeom>
          <a:solidFill>
            <a:srgbClr val="0B1B3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B1B34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17041" y="4772903"/>
            <a:ext cx="10056420" cy="31997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C9F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Viabilité économique (projection prudente)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17041" y="5120307"/>
            <a:ext cx="10056420" cy="77708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~500 prestataires actifs × 8 missions/mois × 12 000 F ≈ 48 M F de transactions/mois → ~8,6 M F de commission/mois (≈ 103 M F/an). LTV/CAC &gt; 20.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5044" y="-1736343"/>
            <a:ext cx="4753944" cy="4753944"/>
          </a:xfrm>
          <a:prstGeom prst="ellipse">
            <a:avLst/>
          </a:prstGeom>
          <a:solidFill>
            <a:srgbClr val="13294B"/>
          </a:solidFill>
        </p:spPr>
      </p:sp>
      <p:sp>
        <p:nvSpPr>
          <p:cNvPr id="3" name="Text 1"/>
          <p:cNvSpPr/>
          <p:nvPr/>
        </p:nvSpPr>
        <p:spPr>
          <a:xfrm>
            <a:off x="822798" y="2194803"/>
            <a:ext cx="10513530" cy="914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Merci de votre attention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68509" y="3291867"/>
            <a:ext cx="1645596" cy="63995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5" name="Text 3"/>
          <p:cNvSpPr/>
          <p:nvPr/>
        </p:nvSpPr>
        <p:spPr>
          <a:xfrm>
            <a:off x="822798" y="3520422"/>
            <a:ext cx="10513530" cy="5485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échanges avec le jury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798" y="6125949"/>
            <a:ext cx="10513530" cy="36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KOUAKOU EBOUHO FRANCK YVAN  ·  BABIFIX  ·  IIT — Licence Génie Logiciel  ·  2025–2026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8035</Words>
  <Application>WPS Presentation</Application>
  <PresentationFormat>Grand écran</PresentationFormat>
  <Paragraphs>532</Paragraphs>
  <Slides>23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</vt:lpstr>
      <vt:lpstr>SimSun</vt:lpstr>
      <vt:lpstr>Wingdings</vt:lpstr>
      <vt:lpstr>Trebuchet MS</vt:lpstr>
      <vt:lpstr>Trebuchet MS</vt:lpstr>
      <vt:lpstr>Trebuchet MS</vt:lpstr>
      <vt:lpstr>Calibri</vt:lpstr>
      <vt:lpstr>Calibri</vt:lpstr>
      <vt:lpstr>Calibri</vt:lpstr>
      <vt:lpstr>Arial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BABIFIX - Soutenance (Cas de recherche)</dc:title>
  <dc:creator>KOUAKOU EBOUHO FRANCK YVAN</dc:creator>
  <dc:subject>PptxGenJS Presentation</dc:subject>
  <cp:lastModifiedBy>Hors Zone</cp:lastModifiedBy>
  <cp:revision>3</cp:revision>
  <dcterms:created xsi:type="dcterms:W3CDTF">2026-06-17T12:36:00Z</dcterms:created>
  <dcterms:modified xsi:type="dcterms:W3CDTF">2026-06-17T15:43:45Z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1036-12.1.0.26880</vt:lpwstr>
  </property>
  <property fmtid="{D5CDD505-2E9C-101B-9397-08002B2CF9AE}" pid="3" name="ICV">
    <vt:lpwstr>D632C4F2F113466684432225B80C936E_12</vt:lpwstr>
  </property>
</Properties>
</file>